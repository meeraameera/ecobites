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8288000" cy="10287000"/>
  <p:notesSz cx="6858000" cy="9144000"/>
  <p:embeddedFontLst>
    <p:embeddedFont>
      <p:font typeface="Agrandir Medium" panose="020B0604020202020204" charset="0"/>
      <p:regular r:id="rId12"/>
    </p:embeddedFont>
    <p:embeddedFont>
      <p:font typeface="Hibernate" panose="02000503000000000000" charset="0"/>
      <p:regular r:id="rId13"/>
    </p:embeddedFont>
    <p:embeddedFont>
      <p:font typeface="Montserrat" panose="00000500000000000000" pitchFamily="2" charset="0"/>
      <p:regular r:id="rId14"/>
    </p:embeddedFont>
    <p:embeddedFont>
      <p:font typeface="Montserrat Bold" panose="00000800000000000000" charset="0"/>
      <p:regular r:id="rId15"/>
    </p:embeddedFont>
    <p:embeddedFont>
      <p:font typeface="Montserrat Classic Bold" panose="020B0604020202020204" charset="0"/>
      <p:regular r:id="rId16"/>
    </p:embeddedFont>
    <p:embeddedFont>
      <p:font typeface="Montserrat Medium" panose="00000600000000000000" pitchFamily="2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7" d="100"/>
          <a:sy n="67" d="100"/>
        </p:scale>
        <p:origin x="267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ERA AMEERA BINTE ABDUL RAZAK" userId="5ad36552-dcbd-4d6b-9aac-6225fbf26ef0" providerId="ADAL" clId="{1ADFFD17-A5FF-4A91-9CF4-AACDB8CAE9D3}"/>
    <pc:docChg chg="delSld modSld">
      <pc:chgData name="MEERA AMEERA BINTE ABDUL RAZAK" userId="5ad36552-dcbd-4d6b-9aac-6225fbf26ef0" providerId="ADAL" clId="{1ADFFD17-A5FF-4A91-9CF4-AACDB8CAE9D3}" dt="2025-12-17T14:25:12.744" v="1" actId="47"/>
      <pc:docMkLst>
        <pc:docMk/>
      </pc:docMkLst>
      <pc:sldChg chg="modSp mod">
        <pc:chgData name="MEERA AMEERA BINTE ABDUL RAZAK" userId="5ad36552-dcbd-4d6b-9aac-6225fbf26ef0" providerId="ADAL" clId="{1ADFFD17-A5FF-4A91-9CF4-AACDB8CAE9D3}" dt="2025-12-17T14:25:01.214" v="0" actId="20577"/>
        <pc:sldMkLst>
          <pc:docMk/>
          <pc:sldMk cId="0" sldId="256"/>
        </pc:sldMkLst>
        <pc:spChg chg="mod">
          <ac:chgData name="MEERA AMEERA BINTE ABDUL RAZAK" userId="5ad36552-dcbd-4d6b-9aac-6225fbf26ef0" providerId="ADAL" clId="{1ADFFD17-A5FF-4A91-9CF4-AACDB8CAE9D3}" dt="2025-12-17T14:25:01.214" v="0" actId="20577"/>
          <ac:spMkLst>
            <pc:docMk/>
            <pc:sldMk cId="0" sldId="256"/>
            <ac:spMk id="6" creationId="{00000000-0000-0000-0000-000000000000}"/>
          </ac:spMkLst>
        </pc:spChg>
      </pc:sldChg>
      <pc:sldChg chg="del">
        <pc:chgData name="MEERA AMEERA BINTE ABDUL RAZAK" userId="5ad36552-dcbd-4d6b-9aac-6225fbf26ef0" providerId="ADAL" clId="{1ADFFD17-A5FF-4A91-9CF4-AACDB8CAE9D3}" dt="2025-12-17T14:25:12.744" v="1" actId="47"/>
        <pc:sldMkLst>
          <pc:docMk/>
          <pc:sldMk cId="0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0429" r="-70429"/>
            </a:stretch>
          </a:blipFill>
        </p:spPr>
        <p:txBody>
          <a:bodyPr/>
          <a:lstStyle/>
          <a:p>
            <a:endParaRPr lang="en-SG"/>
          </a:p>
        </p:txBody>
      </p:sp>
      <p:grpSp>
        <p:nvGrpSpPr>
          <p:cNvPr id="3" name="Group 3"/>
          <p:cNvGrpSpPr/>
          <p:nvPr/>
        </p:nvGrpSpPr>
        <p:grpSpPr>
          <a:xfrm>
            <a:off x="2632863" y="4455753"/>
            <a:ext cx="13022273" cy="1380354"/>
            <a:chOff x="0" y="0"/>
            <a:chExt cx="2990689" cy="3170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0689" cy="317012"/>
            </a:xfrm>
            <a:custGeom>
              <a:avLst/>
              <a:gdLst/>
              <a:ahLst/>
              <a:cxnLst/>
              <a:rect l="l" t="t" r="r" b="b"/>
              <a:pathLst>
                <a:path w="2990689" h="317012">
                  <a:moveTo>
                    <a:pt x="8918" y="0"/>
                  </a:moveTo>
                  <a:lnTo>
                    <a:pt x="2981772" y="0"/>
                  </a:lnTo>
                  <a:cubicBezTo>
                    <a:pt x="2986697" y="0"/>
                    <a:pt x="2990689" y="3993"/>
                    <a:pt x="2990689" y="8918"/>
                  </a:cubicBezTo>
                  <a:lnTo>
                    <a:pt x="2990689" y="308094"/>
                  </a:lnTo>
                  <a:cubicBezTo>
                    <a:pt x="2990689" y="313019"/>
                    <a:pt x="2986697" y="317012"/>
                    <a:pt x="2981772" y="317012"/>
                  </a:cubicBezTo>
                  <a:lnTo>
                    <a:pt x="8918" y="317012"/>
                  </a:lnTo>
                  <a:cubicBezTo>
                    <a:pt x="3993" y="317012"/>
                    <a:pt x="0" y="313019"/>
                    <a:pt x="0" y="308094"/>
                  </a:cubicBezTo>
                  <a:lnTo>
                    <a:pt x="0" y="8918"/>
                  </a:lnTo>
                  <a:cubicBezTo>
                    <a:pt x="0" y="3993"/>
                    <a:pt x="3993" y="0"/>
                    <a:pt x="8918" y="0"/>
                  </a:cubicBezTo>
                  <a:close/>
                </a:path>
              </a:pathLst>
            </a:custGeom>
            <a:solidFill>
              <a:srgbClr val="FFE4B4"/>
            </a:solidFill>
          </p:spPr>
          <p:txBody>
            <a:bodyPr/>
            <a:lstStyle/>
            <a:p>
              <a:endParaRPr lang="en-SG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2990689" cy="326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842733" y="5970162"/>
            <a:ext cx="8602534" cy="698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29"/>
              </a:lnSpc>
            </a:pPr>
            <a:r>
              <a:rPr lang="en-US" sz="4373" spc="389" dirty="0">
                <a:solidFill>
                  <a:srgbClr val="404040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MEERA AMEERA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22129" y="3822691"/>
            <a:ext cx="12043743" cy="3087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845"/>
              </a:lnSpc>
              <a:spcBef>
                <a:spcPct val="0"/>
              </a:spcBef>
            </a:pPr>
            <a:r>
              <a:rPr lang="en-US" sz="18965">
                <a:solidFill>
                  <a:srgbClr val="404040"/>
                </a:solidFill>
                <a:latin typeface="Hibernate"/>
                <a:ea typeface="Hibernate"/>
                <a:cs typeface="Hibernate"/>
                <a:sym typeface="Hibernate"/>
              </a:rPr>
              <a:t>ECOBITES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0429" r="-70429"/>
            </a:stretch>
          </a:blipFill>
        </p:spPr>
        <p:txBody>
          <a:bodyPr/>
          <a:lstStyle/>
          <a:p>
            <a:endParaRPr lang="en-SG"/>
          </a:p>
        </p:txBody>
      </p:sp>
      <p:grpSp>
        <p:nvGrpSpPr>
          <p:cNvPr id="3" name="Group 3"/>
          <p:cNvGrpSpPr/>
          <p:nvPr/>
        </p:nvGrpSpPr>
        <p:grpSpPr>
          <a:xfrm>
            <a:off x="2973535" y="3603782"/>
            <a:ext cx="12340930" cy="5112705"/>
            <a:chOff x="0" y="0"/>
            <a:chExt cx="3250286" cy="134655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50286" cy="1346556"/>
            </a:xfrm>
            <a:custGeom>
              <a:avLst/>
              <a:gdLst/>
              <a:ahLst/>
              <a:cxnLst/>
              <a:rect l="l" t="t" r="r" b="b"/>
              <a:pathLst>
                <a:path w="3250286" h="1346556">
                  <a:moveTo>
                    <a:pt x="31994" y="0"/>
                  </a:moveTo>
                  <a:lnTo>
                    <a:pt x="3218292" y="0"/>
                  </a:lnTo>
                  <a:cubicBezTo>
                    <a:pt x="3235962" y="0"/>
                    <a:pt x="3250286" y="14324"/>
                    <a:pt x="3250286" y="31994"/>
                  </a:cubicBezTo>
                  <a:lnTo>
                    <a:pt x="3250286" y="1314562"/>
                  </a:lnTo>
                  <a:cubicBezTo>
                    <a:pt x="3250286" y="1332232"/>
                    <a:pt x="3235962" y="1346556"/>
                    <a:pt x="3218292" y="1346556"/>
                  </a:cubicBezTo>
                  <a:lnTo>
                    <a:pt x="31994" y="1346556"/>
                  </a:lnTo>
                  <a:cubicBezTo>
                    <a:pt x="14324" y="1346556"/>
                    <a:pt x="0" y="1332232"/>
                    <a:pt x="0" y="1314562"/>
                  </a:cubicBezTo>
                  <a:lnTo>
                    <a:pt x="0" y="31994"/>
                  </a:lnTo>
                  <a:cubicBezTo>
                    <a:pt x="0" y="14324"/>
                    <a:pt x="14324" y="0"/>
                    <a:pt x="31994" y="0"/>
                  </a:cubicBezTo>
                  <a:close/>
                </a:path>
              </a:pathLst>
            </a:custGeom>
            <a:solidFill>
              <a:srgbClr val="B8CDDB"/>
            </a:solidFill>
          </p:spPr>
          <p:txBody>
            <a:bodyPr/>
            <a:lstStyle/>
            <a:p>
              <a:endParaRPr lang="en-SG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3250286" cy="1337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8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714423" y="1826662"/>
            <a:ext cx="8859155" cy="2280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340"/>
              </a:lnSpc>
              <a:spcBef>
                <a:spcPct val="0"/>
              </a:spcBef>
            </a:pPr>
            <a:r>
              <a:rPr lang="en-US" sz="14000">
                <a:solidFill>
                  <a:srgbClr val="404040"/>
                </a:solidFill>
                <a:latin typeface="Hibernate"/>
                <a:ea typeface="Hibernate"/>
                <a:cs typeface="Hibernate"/>
                <a:sym typeface="Hibernate"/>
              </a:rPr>
              <a:t>WHAT IS ECOBITES?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80018" y="5439409"/>
            <a:ext cx="9727964" cy="1374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4040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 is an app to help reduce grocery/food wastage at home.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0429" r="-70429"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12213893" y="247241"/>
            <a:ext cx="5518356" cy="2884595"/>
          </a:xfrm>
          <a:custGeom>
            <a:avLst/>
            <a:gdLst/>
            <a:ahLst/>
            <a:cxnLst/>
            <a:rect l="l" t="t" r="r" b="b"/>
            <a:pathLst>
              <a:path w="5518356" h="2884595">
                <a:moveTo>
                  <a:pt x="0" y="0"/>
                </a:moveTo>
                <a:lnTo>
                  <a:pt x="5518356" y="0"/>
                </a:lnTo>
                <a:lnTo>
                  <a:pt x="5518356" y="2884595"/>
                </a:lnTo>
                <a:lnTo>
                  <a:pt x="0" y="28845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6" t="-5868" r="-2626" b="-1508"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Freeform 4"/>
          <p:cNvSpPr/>
          <p:nvPr/>
        </p:nvSpPr>
        <p:spPr>
          <a:xfrm>
            <a:off x="12997196" y="3526478"/>
            <a:ext cx="3951750" cy="6459477"/>
          </a:xfrm>
          <a:custGeom>
            <a:avLst/>
            <a:gdLst/>
            <a:ahLst/>
            <a:cxnLst/>
            <a:rect l="l" t="t" r="r" b="b"/>
            <a:pathLst>
              <a:path w="3951750" h="6459477">
                <a:moveTo>
                  <a:pt x="0" y="0"/>
                </a:moveTo>
                <a:lnTo>
                  <a:pt x="3951749" y="0"/>
                </a:lnTo>
                <a:lnTo>
                  <a:pt x="3951749" y="6459477"/>
                </a:lnTo>
                <a:lnTo>
                  <a:pt x="0" y="64594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5" name="TextBox 5"/>
          <p:cNvSpPr txBox="1"/>
          <p:nvPr/>
        </p:nvSpPr>
        <p:spPr>
          <a:xfrm>
            <a:off x="1440526" y="1915176"/>
            <a:ext cx="7703474" cy="2280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40"/>
              </a:lnSpc>
              <a:spcBef>
                <a:spcPct val="0"/>
              </a:spcBef>
            </a:pPr>
            <a:r>
              <a:rPr lang="en-US" sz="14000">
                <a:solidFill>
                  <a:srgbClr val="404040"/>
                </a:solidFill>
                <a:latin typeface="Hibernate"/>
                <a:ea typeface="Hibernate"/>
                <a:cs typeface="Hibernate"/>
                <a:sym typeface="Hibernate"/>
              </a:rPr>
              <a:t>FUNCTIONALITIES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40526" y="3889260"/>
            <a:ext cx="7703474" cy="2306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4040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Storage Location Tracker</a:t>
            </a:r>
          </a:p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Can track how many grocery items are being stored in the specific location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0429" r="-70429"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12809419" y="1028700"/>
            <a:ext cx="4449881" cy="8229600"/>
          </a:xfrm>
          <a:custGeom>
            <a:avLst/>
            <a:gdLst/>
            <a:ahLst/>
            <a:cxnLst/>
            <a:rect l="l" t="t" r="r" b="b"/>
            <a:pathLst>
              <a:path w="4449881" h="8229600">
                <a:moveTo>
                  <a:pt x="0" y="0"/>
                </a:moveTo>
                <a:lnTo>
                  <a:pt x="4449881" y="0"/>
                </a:lnTo>
                <a:lnTo>
                  <a:pt x="444988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TextBox 4"/>
          <p:cNvSpPr txBox="1"/>
          <p:nvPr/>
        </p:nvSpPr>
        <p:spPr>
          <a:xfrm>
            <a:off x="1440526" y="1915176"/>
            <a:ext cx="7703474" cy="2280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40"/>
              </a:lnSpc>
              <a:spcBef>
                <a:spcPct val="0"/>
              </a:spcBef>
            </a:pPr>
            <a:r>
              <a:rPr lang="en-US" sz="14000">
                <a:solidFill>
                  <a:srgbClr val="404040"/>
                </a:solidFill>
                <a:latin typeface="Hibernate"/>
                <a:ea typeface="Hibernate"/>
                <a:cs typeface="Hibernate"/>
                <a:sym typeface="Hibernate"/>
              </a:rPr>
              <a:t>FUNCTIONALITIES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0526" y="3889260"/>
            <a:ext cx="7703474" cy="3469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4040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Adding Groceries </a:t>
            </a:r>
          </a:p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Able to add as many grocery items as you want to the database</a:t>
            </a:r>
          </a:p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For uploading images, main method is using the image URL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0429" r="-70429"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12832068" y="1028700"/>
            <a:ext cx="4427232" cy="8229600"/>
          </a:xfrm>
          <a:custGeom>
            <a:avLst/>
            <a:gdLst/>
            <a:ahLst/>
            <a:cxnLst/>
            <a:rect l="l" t="t" r="r" b="b"/>
            <a:pathLst>
              <a:path w="4427232" h="8229600">
                <a:moveTo>
                  <a:pt x="0" y="0"/>
                </a:moveTo>
                <a:lnTo>
                  <a:pt x="4427232" y="0"/>
                </a:lnTo>
                <a:lnTo>
                  <a:pt x="442723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TextBox 4"/>
          <p:cNvSpPr txBox="1"/>
          <p:nvPr/>
        </p:nvSpPr>
        <p:spPr>
          <a:xfrm>
            <a:off x="1440526" y="1915176"/>
            <a:ext cx="7703474" cy="2280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40"/>
              </a:lnSpc>
              <a:spcBef>
                <a:spcPct val="0"/>
              </a:spcBef>
            </a:pPr>
            <a:r>
              <a:rPr lang="en-US" sz="14000">
                <a:solidFill>
                  <a:srgbClr val="404040"/>
                </a:solidFill>
                <a:latin typeface="Hibernate"/>
                <a:ea typeface="Hibernate"/>
                <a:cs typeface="Hibernate"/>
                <a:sym typeface="Hibernate"/>
              </a:rPr>
              <a:t>FUNCTIONALITIES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0526" y="3889260"/>
            <a:ext cx="7703474" cy="4631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4040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Reminders</a:t>
            </a:r>
          </a:p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Will be reminded when a product is going to expire</a:t>
            </a:r>
          </a:p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you can filter out to get by </a:t>
            </a:r>
          </a:p>
          <a:p>
            <a:pPr marL="1424930" lvl="2" indent="-474977" algn="l">
              <a:lnSpc>
                <a:spcPts val="4619"/>
              </a:lnSpc>
              <a:buFont typeface="Arial"/>
              <a:buChar char="⚬"/>
            </a:pPr>
            <a:r>
              <a:rPr lang="en-US" sz="3299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days</a:t>
            </a:r>
          </a:p>
          <a:p>
            <a:pPr marL="1424930" lvl="2" indent="-474977" algn="l">
              <a:lnSpc>
                <a:spcPts val="4619"/>
              </a:lnSpc>
              <a:buFont typeface="Arial"/>
              <a:buChar char="⚬"/>
            </a:pPr>
            <a:r>
              <a:rPr lang="en-US" sz="3299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weeks</a:t>
            </a:r>
          </a:p>
          <a:p>
            <a:pPr marL="1424930" lvl="2" indent="-474977" algn="l">
              <a:lnSpc>
                <a:spcPts val="4619"/>
              </a:lnSpc>
              <a:buFont typeface="Arial"/>
              <a:buChar char="⚬"/>
            </a:pPr>
            <a:r>
              <a:rPr lang="en-US" sz="3299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months</a:t>
            </a:r>
          </a:p>
          <a:p>
            <a:pPr marL="1424930" lvl="2" indent="-474977" algn="l">
              <a:lnSpc>
                <a:spcPts val="4619"/>
              </a:lnSpc>
              <a:buFont typeface="Arial"/>
              <a:buChar char="⚬"/>
            </a:pPr>
            <a:r>
              <a:rPr lang="en-US" sz="3299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years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0429" r="-70429"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12847283" y="1028700"/>
            <a:ext cx="4412017" cy="8229600"/>
          </a:xfrm>
          <a:custGeom>
            <a:avLst/>
            <a:gdLst/>
            <a:ahLst/>
            <a:cxnLst/>
            <a:rect l="l" t="t" r="r" b="b"/>
            <a:pathLst>
              <a:path w="4412017" h="8229600">
                <a:moveTo>
                  <a:pt x="0" y="0"/>
                </a:moveTo>
                <a:lnTo>
                  <a:pt x="4412017" y="0"/>
                </a:lnTo>
                <a:lnTo>
                  <a:pt x="441201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TextBox 4"/>
          <p:cNvSpPr txBox="1"/>
          <p:nvPr/>
        </p:nvSpPr>
        <p:spPr>
          <a:xfrm>
            <a:off x="1440526" y="1915176"/>
            <a:ext cx="7703474" cy="2280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40"/>
              </a:lnSpc>
              <a:spcBef>
                <a:spcPct val="0"/>
              </a:spcBef>
            </a:pPr>
            <a:r>
              <a:rPr lang="en-US" sz="14000">
                <a:solidFill>
                  <a:srgbClr val="404040"/>
                </a:solidFill>
                <a:latin typeface="Hibernate"/>
                <a:ea typeface="Hibernate"/>
                <a:cs typeface="Hibernate"/>
                <a:sym typeface="Hibernate"/>
              </a:rPr>
              <a:t>FUNCTIONALITIES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0526" y="3889260"/>
            <a:ext cx="7703474" cy="3469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4040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Past History</a:t>
            </a:r>
          </a:p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Able to see what product you fully consumed or did not finish</a:t>
            </a:r>
          </a:p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A good way to roughly gauge whether you can finish a specific product in the future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0429" r="-70429"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Freeform 3"/>
          <p:cNvSpPr/>
          <p:nvPr/>
        </p:nvSpPr>
        <p:spPr>
          <a:xfrm>
            <a:off x="12857421" y="1028700"/>
            <a:ext cx="4401879" cy="8229600"/>
          </a:xfrm>
          <a:custGeom>
            <a:avLst/>
            <a:gdLst/>
            <a:ahLst/>
            <a:cxnLst/>
            <a:rect l="l" t="t" r="r" b="b"/>
            <a:pathLst>
              <a:path w="4401879" h="8229600">
                <a:moveTo>
                  <a:pt x="0" y="0"/>
                </a:moveTo>
                <a:lnTo>
                  <a:pt x="4401879" y="0"/>
                </a:lnTo>
                <a:lnTo>
                  <a:pt x="440187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4" name="TextBox 4"/>
          <p:cNvSpPr txBox="1"/>
          <p:nvPr/>
        </p:nvSpPr>
        <p:spPr>
          <a:xfrm>
            <a:off x="1440526" y="1915176"/>
            <a:ext cx="7703474" cy="2280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340"/>
              </a:lnSpc>
              <a:spcBef>
                <a:spcPct val="0"/>
              </a:spcBef>
            </a:pPr>
            <a:r>
              <a:rPr lang="en-US" sz="14000">
                <a:solidFill>
                  <a:srgbClr val="404040"/>
                </a:solidFill>
                <a:latin typeface="Hibernate"/>
                <a:ea typeface="Hibernate"/>
                <a:cs typeface="Hibernate"/>
                <a:sym typeface="Hibernate"/>
              </a:rPr>
              <a:t>FUNCTIONALITIES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0526" y="3889260"/>
            <a:ext cx="7703474" cy="405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4040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Analytics</a:t>
            </a:r>
          </a:p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Products are being divided into different categories</a:t>
            </a:r>
          </a:p>
          <a:p>
            <a:pPr marL="712465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Able to see what percentage have you wasted for the particular category for the month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0429" r="-70429"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1756883" y="908742"/>
            <a:ext cx="14774235" cy="2687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20"/>
              </a:lnSpc>
            </a:pPr>
            <a:r>
              <a:rPr lang="en-US" sz="12000">
                <a:solidFill>
                  <a:srgbClr val="404040"/>
                </a:solidFill>
                <a:latin typeface="Hibernate"/>
                <a:ea typeface="Hibernate"/>
                <a:cs typeface="Hibernate"/>
                <a:sym typeface="Hibernate"/>
              </a:rPr>
              <a:t>FUTURE ENHANCEMENT</a:t>
            </a:r>
          </a:p>
          <a:p>
            <a:pPr marL="0" lvl="0" indent="0" algn="ctr">
              <a:lnSpc>
                <a:spcPts val="5372"/>
              </a:lnSpc>
              <a:spcBef>
                <a:spcPct val="0"/>
              </a:spcBef>
            </a:pPr>
            <a:r>
              <a:rPr lang="en-US" sz="410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(I tried doing but it kept hanging so I removed them...)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290872" y="3772299"/>
            <a:ext cx="4229454" cy="4741161"/>
            <a:chOff x="0" y="0"/>
            <a:chExt cx="1113930" cy="12487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13930" cy="1248701"/>
            </a:xfrm>
            <a:custGeom>
              <a:avLst/>
              <a:gdLst/>
              <a:ahLst/>
              <a:cxnLst/>
              <a:rect l="l" t="t" r="r" b="b"/>
              <a:pathLst>
                <a:path w="1113930" h="1248701">
                  <a:moveTo>
                    <a:pt x="93354" y="0"/>
                  </a:moveTo>
                  <a:lnTo>
                    <a:pt x="1020576" y="0"/>
                  </a:lnTo>
                  <a:cubicBezTo>
                    <a:pt x="1072134" y="0"/>
                    <a:pt x="1113930" y="41796"/>
                    <a:pt x="1113930" y="93354"/>
                  </a:cubicBezTo>
                  <a:lnTo>
                    <a:pt x="1113930" y="1155346"/>
                  </a:lnTo>
                  <a:cubicBezTo>
                    <a:pt x="1113930" y="1206905"/>
                    <a:pt x="1072134" y="1248701"/>
                    <a:pt x="1020576" y="1248701"/>
                  </a:cubicBezTo>
                  <a:lnTo>
                    <a:pt x="93354" y="1248701"/>
                  </a:lnTo>
                  <a:cubicBezTo>
                    <a:pt x="41796" y="1248701"/>
                    <a:pt x="0" y="1206905"/>
                    <a:pt x="0" y="1155346"/>
                  </a:cubicBezTo>
                  <a:lnTo>
                    <a:pt x="0" y="93354"/>
                  </a:lnTo>
                  <a:cubicBezTo>
                    <a:pt x="0" y="41796"/>
                    <a:pt x="41796" y="0"/>
                    <a:pt x="93354" y="0"/>
                  </a:cubicBezTo>
                  <a:close/>
                </a:path>
              </a:pathLst>
            </a:custGeom>
            <a:solidFill>
              <a:srgbClr val="B8CDDB"/>
            </a:solidFill>
          </p:spPr>
          <p:txBody>
            <a:bodyPr/>
            <a:lstStyle/>
            <a:p>
              <a:endParaRPr lang="en-S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1113930" cy="1239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8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428622" y="3962304"/>
            <a:ext cx="3953954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spc="9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GOOGLE AUTHENTICATION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60900" y="5581413"/>
            <a:ext cx="3289398" cy="1065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7"/>
              </a:lnSpc>
            </a:pPr>
            <a:r>
              <a:rPr lang="en-US" sz="1899" spc="6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 is a common method of signing up or login in across all apps.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029273" y="3772299"/>
            <a:ext cx="4229454" cy="4741161"/>
            <a:chOff x="0" y="0"/>
            <a:chExt cx="1113930" cy="124870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13930" cy="1248701"/>
            </a:xfrm>
            <a:custGeom>
              <a:avLst/>
              <a:gdLst/>
              <a:ahLst/>
              <a:cxnLst/>
              <a:rect l="l" t="t" r="r" b="b"/>
              <a:pathLst>
                <a:path w="1113930" h="1248701">
                  <a:moveTo>
                    <a:pt x="93354" y="0"/>
                  </a:moveTo>
                  <a:lnTo>
                    <a:pt x="1020576" y="0"/>
                  </a:lnTo>
                  <a:cubicBezTo>
                    <a:pt x="1072134" y="0"/>
                    <a:pt x="1113930" y="41796"/>
                    <a:pt x="1113930" y="93354"/>
                  </a:cubicBezTo>
                  <a:lnTo>
                    <a:pt x="1113930" y="1155346"/>
                  </a:lnTo>
                  <a:cubicBezTo>
                    <a:pt x="1113930" y="1206905"/>
                    <a:pt x="1072134" y="1248701"/>
                    <a:pt x="1020576" y="1248701"/>
                  </a:cubicBezTo>
                  <a:lnTo>
                    <a:pt x="93354" y="1248701"/>
                  </a:lnTo>
                  <a:cubicBezTo>
                    <a:pt x="41796" y="1248701"/>
                    <a:pt x="0" y="1206905"/>
                    <a:pt x="0" y="1155346"/>
                  </a:cubicBezTo>
                  <a:lnTo>
                    <a:pt x="0" y="93354"/>
                  </a:lnTo>
                  <a:cubicBezTo>
                    <a:pt x="0" y="41796"/>
                    <a:pt x="41796" y="0"/>
                    <a:pt x="93354" y="0"/>
                  </a:cubicBezTo>
                  <a:close/>
                </a:path>
              </a:pathLst>
            </a:custGeom>
            <a:solidFill>
              <a:srgbClr val="F7BB97"/>
            </a:solidFill>
          </p:spPr>
          <p:txBody>
            <a:bodyPr/>
            <a:lstStyle/>
            <a:p>
              <a:endParaRPr lang="en-S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1113930" cy="1239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8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813719" y="4000404"/>
            <a:ext cx="2660562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spc="9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IMAGE PICKER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9301" y="5238372"/>
            <a:ext cx="3289398" cy="2151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7"/>
              </a:lnSpc>
            </a:pPr>
            <a:r>
              <a:rPr lang="en-US" sz="1899" spc="6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 is troublesome to key in long URLs for the image, so I should allow the user to select from their gallery or snap a shot on the spot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763552" y="3772299"/>
            <a:ext cx="4229454" cy="4741161"/>
            <a:chOff x="0" y="0"/>
            <a:chExt cx="1113930" cy="124870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13930" cy="1248701"/>
            </a:xfrm>
            <a:custGeom>
              <a:avLst/>
              <a:gdLst/>
              <a:ahLst/>
              <a:cxnLst/>
              <a:rect l="l" t="t" r="r" b="b"/>
              <a:pathLst>
                <a:path w="1113930" h="1248701">
                  <a:moveTo>
                    <a:pt x="93354" y="0"/>
                  </a:moveTo>
                  <a:lnTo>
                    <a:pt x="1020576" y="0"/>
                  </a:lnTo>
                  <a:cubicBezTo>
                    <a:pt x="1072134" y="0"/>
                    <a:pt x="1113930" y="41796"/>
                    <a:pt x="1113930" y="93354"/>
                  </a:cubicBezTo>
                  <a:lnTo>
                    <a:pt x="1113930" y="1155346"/>
                  </a:lnTo>
                  <a:cubicBezTo>
                    <a:pt x="1113930" y="1206905"/>
                    <a:pt x="1072134" y="1248701"/>
                    <a:pt x="1020576" y="1248701"/>
                  </a:cubicBezTo>
                  <a:lnTo>
                    <a:pt x="93354" y="1248701"/>
                  </a:lnTo>
                  <a:cubicBezTo>
                    <a:pt x="41796" y="1248701"/>
                    <a:pt x="0" y="1206905"/>
                    <a:pt x="0" y="1155346"/>
                  </a:cubicBezTo>
                  <a:lnTo>
                    <a:pt x="0" y="93354"/>
                  </a:lnTo>
                  <a:cubicBezTo>
                    <a:pt x="0" y="41796"/>
                    <a:pt x="41796" y="0"/>
                    <a:pt x="93354" y="0"/>
                  </a:cubicBezTo>
                  <a:close/>
                </a:path>
              </a:pathLst>
            </a:custGeom>
            <a:solidFill>
              <a:srgbClr val="FFD2CC"/>
            </a:solidFill>
          </p:spPr>
          <p:txBody>
            <a:bodyPr/>
            <a:lstStyle/>
            <a:p>
              <a:endParaRPr lang="en-SG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1113930" cy="1239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8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233580" y="4262341"/>
            <a:ext cx="3445008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spc="9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NOTIFICATIONS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11384" y="5057397"/>
            <a:ext cx="3289398" cy="2513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7"/>
              </a:lnSpc>
            </a:pPr>
            <a:r>
              <a:rPr lang="en-US" sz="1899" spc="6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Users may not always go into the reminders screen so they will not be aware of some products expiring soon, so I should implement in-app notifications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0429" r="-70429"/>
            </a:stretch>
          </a:blipFill>
        </p:spPr>
        <p:txBody>
          <a:bodyPr/>
          <a:lstStyle/>
          <a:p>
            <a:endParaRPr lang="en-SG"/>
          </a:p>
        </p:txBody>
      </p:sp>
      <p:grpSp>
        <p:nvGrpSpPr>
          <p:cNvPr id="3" name="Group 3"/>
          <p:cNvGrpSpPr/>
          <p:nvPr/>
        </p:nvGrpSpPr>
        <p:grpSpPr>
          <a:xfrm>
            <a:off x="2973535" y="3603782"/>
            <a:ext cx="12340930" cy="5112705"/>
            <a:chOff x="0" y="0"/>
            <a:chExt cx="3250286" cy="134655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50286" cy="1346556"/>
            </a:xfrm>
            <a:custGeom>
              <a:avLst/>
              <a:gdLst/>
              <a:ahLst/>
              <a:cxnLst/>
              <a:rect l="l" t="t" r="r" b="b"/>
              <a:pathLst>
                <a:path w="3250286" h="1346556">
                  <a:moveTo>
                    <a:pt x="31994" y="0"/>
                  </a:moveTo>
                  <a:lnTo>
                    <a:pt x="3218292" y="0"/>
                  </a:lnTo>
                  <a:cubicBezTo>
                    <a:pt x="3235962" y="0"/>
                    <a:pt x="3250286" y="14324"/>
                    <a:pt x="3250286" y="31994"/>
                  </a:cubicBezTo>
                  <a:lnTo>
                    <a:pt x="3250286" y="1314562"/>
                  </a:lnTo>
                  <a:cubicBezTo>
                    <a:pt x="3250286" y="1332232"/>
                    <a:pt x="3235962" y="1346556"/>
                    <a:pt x="3218292" y="1346556"/>
                  </a:cubicBezTo>
                  <a:lnTo>
                    <a:pt x="31994" y="1346556"/>
                  </a:lnTo>
                  <a:cubicBezTo>
                    <a:pt x="14324" y="1346556"/>
                    <a:pt x="0" y="1332232"/>
                    <a:pt x="0" y="1314562"/>
                  </a:cubicBezTo>
                  <a:lnTo>
                    <a:pt x="0" y="31994"/>
                  </a:lnTo>
                  <a:cubicBezTo>
                    <a:pt x="0" y="14324"/>
                    <a:pt x="14324" y="0"/>
                    <a:pt x="31994" y="0"/>
                  </a:cubicBezTo>
                  <a:close/>
                </a:path>
              </a:pathLst>
            </a:custGeom>
            <a:solidFill>
              <a:srgbClr val="F7BB97"/>
            </a:solidFill>
          </p:spPr>
          <p:txBody>
            <a:bodyPr/>
            <a:lstStyle/>
            <a:p>
              <a:endParaRPr lang="en-SG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3250286" cy="1337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8"/>
                </a:lnSpc>
              </a:pPr>
              <a:r>
                <a:rPr lang="en-US" sz="2520">
                  <a:solidFill>
                    <a:srgbClr val="000000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HTTPS://YOUTU.BE/_G-GC2D0CAC?FEATURE=SHARED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714423" y="1850256"/>
            <a:ext cx="8859155" cy="2280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340"/>
              </a:lnSpc>
              <a:spcBef>
                <a:spcPct val="0"/>
              </a:spcBef>
            </a:pPr>
            <a:r>
              <a:rPr lang="en-US" sz="14000">
                <a:solidFill>
                  <a:srgbClr val="404040"/>
                </a:solidFill>
                <a:latin typeface="Hibernate"/>
                <a:ea typeface="Hibernate"/>
                <a:cs typeface="Hibernate"/>
                <a:sym typeface="Hibernate"/>
              </a:rPr>
              <a:t>VIDEO RECORDING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0429" r="-70429"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TextBox 3"/>
          <p:cNvSpPr txBox="1"/>
          <p:nvPr/>
        </p:nvSpPr>
        <p:spPr>
          <a:xfrm>
            <a:off x="3931403" y="3284070"/>
            <a:ext cx="10425193" cy="4347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396"/>
              </a:lnSpc>
            </a:pPr>
            <a:r>
              <a:rPr lang="en-US" sz="19065">
                <a:solidFill>
                  <a:srgbClr val="404040"/>
                </a:solidFill>
                <a:latin typeface="Hibernate"/>
                <a:ea typeface="Hibernate"/>
                <a:cs typeface="Hibernate"/>
                <a:sym typeface="Hibernate"/>
              </a:rPr>
              <a:t>THANK YOU VERY MUCH!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</Words>
  <Application>Microsoft Office PowerPoint</Application>
  <PresentationFormat>Custom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Hibernate</vt:lpstr>
      <vt:lpstr>Agrandir Medium</vt:lpstr>
      <vt:lpstr>Montserrat Medium</vt:lpstr>
      <vt:lpstr>Arial</vt:lpstr>
      <vt:lpstr>Montserrat Classic Bold</vt:lpstr>
      <vt:lpstr>Montserrat Bold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Meera Ameera_2302448B_PC09</dc:title>
  <cp:lastModifiedBy>MEERA AMEERA BINTE ABDUL RAZAK</cp:lastModifiedBy>
  <cp:revision>1</cp:revision>
  <dcterms:created xsi:type="dcterms:W3CDTF">2006-08-16T00:00:00Z</dcterms:created>
  <dcterms:modified xsi:type="dcterms:W3CDTF">2025-12-17T14:25:17Z</dcterms:modified>
  <dc:identifier>DAGMQJ0UjpY</dc:identifier>
</cp:coreProperties>
</file>